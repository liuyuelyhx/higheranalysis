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468" y="-4560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F65B9183-D015-4EDA-BC8C-5077C4505C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683134"/>
            <a:ext cx="288004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pt-BR" sz="4000" dirty="0"/>
              <a:t>Bernardo Seijas Cavalcante, Eduardo Chen Zou, Fabiano Henrique Chou, Nicolas Morales</a:t>
            </a:r>
            <a:endParaRPr lang="pt-BR" sz="3733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596897" y="5116390"/>
            <a:ext cx="13284851" cy="4996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4000" dirty="0"/>
              <a:t> </a:t>
            </a:r>
            <a:r>
              <a:rPr lang="pt-BR" sz="2800" dirty="0"/>
              <a:t>	A equipe da </a:t>
            </a:r>
            <a:r>
              <a:rPr lang="pt-BR" sz="2800" b="1" dirty="0"/>
              <a:t>Data </a:t>
            </a:r>
            <a:r>
              <a:rPr lang="pt-BR" sz="2800" b="1" dirty="0" err="1" smtClean="0"/>
              <a:t>Analytics</a:t>
            </a:r>
            <a:r>
              <a:rPr lang="pt-BR" sz="2800" b="1" dirty="0" smtClean="0"/>
              <a:t> </a:t>
            </a:r>
            <a:r>
              <a:rPr lang="pt-BR" sz="2800" dirty="0" smtClean="0"/>
              <a:t>foi </a:t>
            </a:r>
            <a:r>
              <a:rPr lang="pt-BR" sz="2800" dirty="0"/>
              <a:t>formada por estudantes comprometidos em unir </a:t>
            </a:r>
            <a:r>
              <a:rPr lang="pt-BR" sz="2800" b="1" dirty="0"/>
              <a:t>tecnologia, análise de dados e visão estratégica</a:t>
            </a:r>
            <a:r>
              <a:rPr lang="pt-BR" sz="2800" dirty="0"/>
              <a:t> para desenvolver soluções inovadoras. Cada integrante teve papel fundamental na construção do projeto, contribuindo com diferentes áreas de especialização para garantir um resultado completo e eficiente</a:t>
            </a:r>
            <a:r>
              <a:rPr lang="pt-BR" sz="2800" dirty="0" smtClean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/>
            </a:r>
            <a:br>
              <a:rPr lang="pt-BR" sz="2800" dirty="0"/>
            </a:br>
            <a:endParaRPr lang="pt-BR" sz="28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 smtClean="0"/>
              <a:t>Data </a:t>
            </a:r>
            <a:r>
              <a:rPr lang="pt-BR" sz="5866" b="1" dirty="0" err="1" smtClean="0"/>
              <a:t>Analytics</a:t>
            </a:r>
            <a:endParaRPr lang="pt-BR" sz="5866" b="1" dirty="0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=""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456749" cy="8412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defTabSz="1678349" eaLnBrk="1" hangingPunct="1">
              <a:spcAft>
                <a:spcPts val="1200"/>
              </a:spcAft>
            </a:pPr>
            <a:r>
              <a:rPr lang="pt-BR" sz="2400" dirty="0" smtClean="0"/>
              <a:t>	</a:t>
            </a:r>
            <a:r>
              <a:rPr lang="pt-BR" sz="2800" dirty="0" smtClean="0"/>
              <a:t>Com </a:t>
            </a:r>
            <a:r>
              <a:rPr lang="pt-BR" sz="2800" dirty="0"/>
              <a:t>o avanço das soluções digitais e o aumento da competitividade empresarial, gestores financeiros enfrentam </a:t>
            </a:r>
            <a:r>
              <a:rPr lang="pt-BR" sz="2800" b="1" dirty="0"/>
              <a:t>dificuldades em visualizar e interpretar dados em tempo real</a:t>
            </a:r>
            <a:r>
              <a:rPr lang="pt-BR" sz="2800" dirty="0"/>
              <a:t>. A falta de </a:t>
            </a:r>
            <a:r>
              <a:rPr lang="pt-BR" sz="2800" b="1" dirty="0"/>
              <a:t>dashboards integrados e personalizados</a:t>
            </a:r>
            <a:r>
              <a:rPr lang="pt-BR" sz="2800" dirty="0"/>
              <a:t> limita a capacidade de </a:t>
            </a:r>
            <a:r>
              <a:rPr lang="pt-BR" sz="2800" b="1" dirty="0"/>
              <a:t>análise estratégica</a:t>
            </a:r>
            <a:r>
              <a:rPr lang="pt-BR" sz="2800" dirty="0"/>
              <a:t>, dificultando a tomada de decisões rápidas e assertivas</a:t>
            </a:r>
            <a:r>
              <a:rPr lang="pt-BR" sz="2800" dirty="0" smtClean="0"/>
              <a:t>.</a:t>
            </a:r>
          </a:p>
          <a:p>
            <a:pPr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 smtClean="0"/>
              <a:t>	A </a:t>
            </a:r>
            <a:r>
              <a:rPr lang="pt-BR" sz="2800" b="1" dirty="0"/>
              <a:t>PicMoney</a:t>
            </a:r>
            <a:r>
              <a:rPr lang="pt-BR" sz="2800" dirty="0"/>
              <a:t>, plataforma de fidelização e recompensas com base em gamificação, enfrentava o desafio de </a:t>
            </a:r>
            <a:r>
              <a:rPr lang="pt-BR" sz="2800" b="1" dirty="0"/>
              <a:t>analisar grandes volumes de dados financeiros</a:t>
            </a:r>
            <a:r>
              <a:rPr lang="pt-BR" sz="2800" dirty="0"/>
              <a:t> gerados por transações de cupons, </a:t>
            </a:r>
            <a:r>
              <a:rPr lang="pt-BR" sz="2800" dirty="0" err="1"/>
              <a:t>cashback</a:t>
            </a:r>
            <a:r>
              <a:rPr lang="pt-BR" sz="2800" dirty="0"/>
              <a:t> e descontos.</a:t>
            </a:r>
            <a:br>
              <a:rPr lang="pt-BR" sz="2800" dirty="0"/>
            </a:br>
            <a:r>
              <a:rPr lang="pt-BR" sz="2800" dirty="0"/>
              <a:t>Faltava uma forma clara e integrada de </a:t>
            </a:r>
            <a:r>
              <a:rPr lang="pt-BR" sz="2800" b="1" dirty="0"/>
              <a:t>interpretar métricas em tempo real</a:t>
            </a:r>
            <a:r>
              <a:rPr lang="pt-BR" sz="2800" dirty="0"/>
              <a:t> para subsidiar a </a:t>
            </a:r>
            <a:r>
              <a:rPr lang="pt-BR" sz="2800" b="1" dirty="0"/>
              <a:t>tomada de decisão dos gestores</a:t>
            </a:r>
            <a:r>
              <a:rPr lang="pt-BR" sz="2800" dirty="0" smtClean="0"/>
              <a:t>.</a:t>
            </a:r>
          </a:p>
          <a:p>
            <a:pPr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 smtClean="0"/>
              <a:t>	Diante </a:t>
            </a:r>
            <a:r>
              <a:rPr lang="pt-BR" sz="2800" dirty="0"/>
              <a:t>disso, o projeto </a:t>
            </a:r>
            <a:r>
              <a:rPr lang="pt-BR" sz="2800" b="1" dirty="0"/>
              <a:t>Data </a:t>
            </a:r>
            <a:r>
              <a:rPr lang="pt-BR" sz="2800" b="1" dirty="0" err="1" smtClean="0"/>
              <a:t>Analytics</a:t>
            </a:r>
            <a:r>
              <a:rPr lang="pt-BR" sz="2800" b="1" dirty="0" smtClean="0"/>
              <a:t> </a:t>
            </a:r>
            <a:r>
              <a:rPr lang="pt-BR" sz="2800" dirty="0" smtClean="0"/>
              <a:t>surge </a:t>
            </a:r>
            <a:r>
              <a:rPr lang="pt-BR" sz="2800" dirty="0"/>
              <a:t>como resposta ao desafio, desenvolvendo </a:t>
            </a:r>
            <a:r>
              <a:rPr lang="pt-BR" sz="2800" b="1" dirty="0"/>
              <a:t>dashboards estratégicos para CEO e CFO</a:t>
            </a:r>
            <a:r>
              <a:rPr lang="pt-BR" sz="2800" dirty="0"/>
              <a:t>, capazes de consolidar informações financeiras, prever tendências e otimizar resultados com o uso de </a:t>
            </a:r>
            <a:r>
              <a:rPr lang="pt-BR" sz="2800" b="1" dirty="0" err="1"/>
              <a:t>React</a:t>
            </a:r>
            <a:r>
              <a:rPr lang="pt-BR" sz="2800" b="1" dirty="0"/>
              <a:t>, </a:t>
            </a:r>
            <a:r>
              <a:rPr lang="pt-BR" sz="2800" b="1" dirty="0" smtClean="0"/>
              <a:t>Node.js</a:t>
            </a:r>
            <a:r>
              <a:rPr lang="pt-BR" sz="2800" b="1" dirty="0"/>
              <a:t> </a:t>
            </a:r>
            <a:r>
              <a:rPr lang="pt-BR" sz="2800" b="1" dirty="0" smtClean="0"/>
              <a:t>e Python.</a:t>
            </a:r>
            <a:endParaRPr lang="pt-BR" sz="2800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=""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09" y="31365020"/>
            <a:ext cx="12888864" cy="8422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</a:t>
            </a:r>
            <a:r>
              <a:rPr lang="pt-BR" sz="3600" b="1" dirty="0" smtClean="0">
                <a:ea typeface="ＭＳ Ｐゴシック" pitchFamily="34" charset="-128"/>
              </a:rPr>
              <a:t>proposta</a:t>
            </a:r>
            <a:endParaRPr lang="pt-BR" sz="3600" b="1" dirty="0">
              <a:ea typeface="ＭＳ Ｐゴシック" pitchFamily="34" charset="-128"/>
            </a:endParaRP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800" dirty="0"/>
              <a:t>Com o avanço das soluções digitais e o aumento da competitividade empresarial, os </a:t>
            </a:r>
            <a:r>
              <a:rPr lang="pt-BR" sz="2800" b="1" dirty="0"/>
              <a:t>gestores da PicMoney</a:t>
            </a:r>
            <a:r>
              <a:rPr lang="pt-BR" sz="2800" dirty="0"/>
              <a:t> enfrentavam o desafio de </a:t>
            </a:r>
            <a:r>
              <a:rPr lang="pt-BR" sz="2800" b="1" dirty="0"/>
              <a:t>analisar e compreender grandes volumes de dados financeiros</a:t>
            </a:r>
            <a:r>
              <a:rPr lang="pt-BR" sz="2800" dirty="0"/>
              <a:t> gerados diariamente por cupons, descontos e </a:t>
            </a:r>
            <a:r>
              <a:rPr lang="pt-BR" sz="2800" dirty="0" err="1" smtClean="0"/>
              <a:t>cashback</a:t>
            </a:r>
            <a:r>
              <a:rPr lang="pt-BR" sz="2800" dirty="0" smtClean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>A ausência de </a:t>
            </a:r>
            <a:r>
              <a:rPr lang="pt-BR" sz="2800" b="1" dirty="0"/>
              <a:t>dashboards integrados, personalizados e em tempo real</a:t>
            </a:r>
            <a:r>
              <a:rPr lang="pt-BR" sz="2800" dirty="0"/>
              <a:t> dificultava a </a:t>
            </a:r>
            <a:r>
              <a:rPr lang="pt-BR" sz="2800" b="1" dirty="0"/>
              <a:t>visualização dos indicadores de desempenho</a:t>
            </a:r>
            <a:r>
              <a:rPr lang="pt-BR" sz="2800" dirty="0"/>
              <a:t>, comprometendo a agilidade na tomada de decisão e o planejamento estratégico da empresa.</a:t>
            </a:r>
            <a:br>
              <a:rPr lang="pt-BR" sz="2800" dirty="0"/>
            </a:br>
            <a:r>
              <a:rPr lang="pt-BR" sz="2800" dirty="0"/>
              <a:t>Diante desse cenário, o </a:t>
            </a:r>
            <a:r>
              <a:rPr lang="pt-BR" sz="2800" b="1" dirty="0"/>
              <a:t>Data </a:t>
            </a:r>
            <a:r>
              <a:rPr lang="pt-BR" sz="2800" b="1" dirty="0" err="1" smtClean="0"/>
              <a:t>Analytics</a:t>
            </a:r>
            <a:r>
              <a:rPr lang="pt-BR" sz="2800" b="1" dirty="0" smtClean="0"/>
              <a:t> </a:t>
            </a:r>
            <a:r>
              <a:rPr lang="pt-BR" sz="2800" dirty="0" smtClean="0"/>
              <a:t>surge </a:t>
            </a:r>
            <a:r>
              <a:rPr lang="pt-BR" sz="2800" dirty="0"/>
              <a:t>como resposta ao desafio proposto pela </a:t>
            </a:r>
            <a:r>
              <a:rPr lang="pt-BR" sz="2800" b="1" dirty="0"/>
              <a:t>PicMoney</a:t>
            </a:r>
            <a:r>
              <a:rPr lang="pt-BR" sz="2800" dirty="0"/>
              <a:t>, desenvolvendo </a:t>
            </a:r>
            <a:r>
              <a:rPr lang="pt-BR" sz="2800" b="1" dirty="0"/>
              <a:t>painéis interativos voltados para CEO e CFO</a:t>
            </a:r>
            <a:r>
              <a:rPr lang="pt-BR" sz="2800" dirty="0"/>
              <a:t>, que consolidam informações financeiras, identificam padrões de comportamento e auxiliam na previsão de resultados</a:t>
            </a:r>
            <a:r>
              <a:rPr lang="pt-BR" sz="2800" dirty="0" smtClean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>O projeto utiliza tecnologias modernas como </a:t>
            </a:r>
            <a:r>
              <a:rPr lang="pt-BR" sz="2800" b="1" dirty="0" err="1"/>
              <a:t>React</a:t>
            </a:r>
            <a:r>
              <a:rPr lang="pt-BR" sz="2800" b="1" dirty="0"/>
              <a:t>, Node.js, Python e Azure</a:t>
            </a:r>
            <a:r>
              <a:rPr lang="pt-BR" sz="2800" dirty="0"/>
              <a:t>, promovendo uma </a:t>
            </a:r>
            <a:r>
              <a:rPr lang="pt-BR" sz="2800" b="1" dirty="0"/>
              <a:t>análise eficiente, automatizada e acessível</a:t>
            </a:r>
            <a:r>
              <a:rPr lang="pt-BR" sz="2800" dirty="0"/>
              <a:t>, capaz de transformar dados brutos em </a:t>
            </a:r>
            <a:r>
              <a:rPr lang="pt-BR" sz="2800" b="1" dirty="0"/>
              <a:t>insights estratégicos de alto valor para a gestão corporativa</a:t>
            </a:r>
            <a:r>
              <a:rPr lang="pt-BR" sz="2800" dirty="0"/>
              <a:t>.</a:t>
            </a: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 Gomes, </a:t>
            </a:r>
            <a:r>
              <a:rPr lang="pt-BR" sz="2666" b="1" kern="0" dirty="0" err="1"/>
              <a:t>Rodnil</a:t>
            </a:r>
            <a:r>
              <a:rPr lang="pt-BR" sz="2666" b="1" kern="0" dirty="0"/>
              <a:t> da Silva Moreira Lisboa , Mauricio Lopes Da Cunha, Lucy Mari </a:t>
            </a:r>
            <a:r>
              <a:rPr lang="pt-BR" sz="2666" b="1" kern="0" dirty="0" err="1"/>
              <a:t>Tabuti</a:t>
            </a:r>
            <a:r>
              <a:rPr lang="pt-BR" sz="2666" b="1" kern="0" dirty="0"/>
              <a:t>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=""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8752" y="31329747"/>
            <a:ext cx="13318910" cy="7130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</a:t>
            </a:r>
            <a:r>
              <a:rPr lang="pt-BR" sz="3600" b="1" dirty="0" smtClean="0">
                <a:ea typeface="ＭＳ Ｐゴシック" pitchFamily="34" charset="-128"/>
              </a:rPr>
              <a:t>projeto</a:t>
            </a:r>
            <a:endParaRPr lang="pt-BR" sz="3600" b="1" dirty="0">
              <a:ea typeface="ＭＳ Ｐゴシック" pitchFamily="34" charset="-128"/>
            </a:endParaRP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800" dirty="0"/>
              <a:t>O </a:t>
            </a:r>
            <a:r>
              <a:rPr lang="pt-BR" sz="2800" b="1" dirty="0"/>
              <a:t>Data </a:t>
            </a:r>
            <a:r>
              <a:rPr lang="pt-BR" sz="2800" b="1" dirty="0" err="1" smtClean="0"/>
              <a:t>Analytics</a:t>
            </a:r>
            <a:r>
              <a:rPr lang="pt-BR" sz="2800" b="1" dirty="0" smtClean="0"/>
              <a:t> </a:t>
            </a:r>
            <a:r>
              <a:rPr lang="pt-BR" sz="2800" dirty="0" smtClean="0"/>
              <a:t>continuará </a:t>
            </a:r>
            <a:r>
              <a:rPr lang="pt-BR" sz="2800" dirty="0"/>
              <a:t>evoluindo para incorporar </a:t>
            </a:r>
            <a:r>
              <a:rPr lang="pt-BR" sz="2800" b="1" dirty="0"/>
              <a:t>modelos preditivos de inteligência artificial</a:t>
            </a:r>
            <a:r>
              <a:rPr lang="pt-BR" sz="2800" dirty="0"/>
              <a:t>, permitindo projeções financeiras e alertas automáticos de desempenho</a:t>
            </a:r>
            <a:r>
              <a:rPr lang="pt-BR" sz="2800" dirty="0" smtClean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>O próximo passo é a </a:t>
            </a:r>
            <a:r>
              <a:rPr lang="pt-BR" sz="2800" b="1" dirty="0"/>
              <a:t>integração direta com o banco de dados da PicMoney</a:t>
            </a:r>
            <a:r>
              <a:rPr lang="pt-BR" sz="2800" dirty="0"/>
              <a:t>, automatizando a atualização de indicadores em tempo real e ampliando o número de dashboards para diferentes níveis de gestão.</a:t>
            </a:r>
            <a:br>
              <a:rPr lang="pt-BR" sz="2800" dirty="0"/>
            </a:br>
            <a:r>
              <a:rPr lang="pt-BR" sz="2800" dirty="0"/>
              <a:t>Também está prevista a </a:t>
            </a:r>
            <a:r>
              <a:rPr lang="pt-BR" sz="2800" b="1" dirty="0"/>
              <a:t>migração para um ambiente em nuvem mais robusto</a:t>
            </a:r>
            <a:r>
              <a:rPr lang="pt-BR" sz="2800" dirty="0"/>
              <a:t>, utilizando </a:t>
            </a:r>
            <a:r>
              <a:rPr lang="pt-BR" sz="2800" b="1" dirty="0"/>
              <a:t>serviços avançados do Microsoft Azure</a:t>
            </a:r>
            <a:r>
              <a:rPr lang="pt-BR" sz="2800" dirty="0"/>
              <a:t> e ferramentas de </a:t>
            </a:r>
            <a:r>
              <a:rPr lang="pt-BR" sz="2800" b="1" dirty="0"/>
              <a:t>Power BI</a:t>
            </a:r>
            <a:r>
              <a:rPr lang="pt-BR" sz="2800" dirty="0"/>
              <a:t> para visualização</a:t>
            </a:r>
            <a:r>
              <a:rPr lang="pt-BR" sz="2800" dirty="0" smtClean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800" dirty="0"/>
              <a:t/>
            </a:r>
            <a:br>
              <a:rPr lang="pt-BR" sz="2800" dirty="0"/>
            </a:br>
            <a:r>
              <a:rPr lang="pt-BR" sz="2800" dirty="0"/>
              <a:t>O investimento estimado para a expansão é de </a:t>
            </a:r>
            <a:r>
              <a:rPr lang="pt-BR" sz="2800" b="1" dirty="0"/>
              <a:t>R$ 25.000,00</a:t>
            </a:r>
            <a:r>
              <a:rPr lang="pt-BR" sz="2800" dirty="0"/>
              <a:t>, incluindo infraestrutura, segurança de dados e licenças de software, com foco em tornar o sistema escalável e sustentável para uso corporativo.</a:t>
            </a: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=""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802" y="13010844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=""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=""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20" name="Imagem 19" descr="Gráfico&#10;&#10;O conteúdo gerado por IA pode estar incorreto.">
            <a:extLst>
              <a:ext uri="{FF2B5EF4-FFF2-40B4-BE49-F238E27FC236}">
                <a16:creationId xmlns="" xmlns:a16="http://schemas.microsoft.com/office/drawing/2014/main" id="{E8076DB8-B47B-9B03-C650-FDCC60D0FF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6" t="21605" r="18857" b="15942"/>
          <a:stretch>
            <a:fillRect/>
          </a:stretch>
        </p:blipFill>
        <p:spPr>
          <a:xfrm>
            <a:off x="1198707" y="14173380"/>
            <a:ext cx="10977488" cy="8020487"/>
          </a:xfrm>
          <a:prstGeom prst="rect">
            <a:avLst/>
          </a:prstGeom>
        </p:spPr>
      </p:pic>
      <p:pic>
        <p:nvPicPr>
          <p:cNvPr id="27" name="Imagem 26" descr="Tela de computador&#10;&#10;O conteúdo gerado por IA pode estar incorreto.">
            <a:extLst>
              <a:ext uri="{FF2B5EF4-FFF2-40B4-BE49-F238E27FC236}">
                <a16:creationId xmlns="" xmlns:a16="http://schemas.microsoft.com/office/drawing/2014/main" id="{2C23B387-874F-8412-A7F7-0A843A3712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2"/>
          <a:stretch/>
        </p:blipFill>
        <p:spPr>
          <a:xfrm>
            <a:off x="694964" y="22533866"/>
            <a:ext cx="11361736" cy="8262915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="" xmlns:a16="http://schemas.microsoft.com/office/drawing/2014/main" id="{313E03B4-C067-68BE-0630-F380E3D273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62598" y="22384119"/>
            <a:ext cx="13191226" cy="7422762"/>
          </a:xfrm>
          <a:prstGeom prst="rect">
            <a:avLst/>
          </a:prstGeom>
        </p:spPr>
      </p:pic>
      <p:sp>
        <p:nvSpPr>
          <p:cNvPr id="31" name="AutoShape 14">
            <a:extLst>
              <a:ext uri="{FF2B5EF4-FFF2-40B4-BE49-F238E27FC236}">
                <a16:creationId xmlns="" xmlns:a16="http://schemas.microsoft.com/office/drawing/2014/main" id="{9949E890-12CC-8F48-E62D-243587D7A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6884" y="14924814"/>
            <a:ext cx="18628039" cy="1862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1" name="Grupo 10"/>
          <p:cNvGrpSpPr/>
          <p:nvPr/>
        </p:nvGrpSpPr>
        <p:grpSpPr>
          <a:xfrm>
            <a:off x="14959468" y="15277190"/>
            <a:ext cx="13268961" cy="5199035"/>
            <a:chOff x="14850787" y="13778067"/>
            <a:chExt cx="13268961" cy="5199035"/>
          </a:xfrm>
        </p:grpSpPr>
        <p:pic>
          <p:nvPicPr>
            <p:cNvPr id="12" name="Imagem 11" descr="Logotipo, Ícone&#10;&#10;O conteúdo gerado por IA pode estar incorreto.">
              <a:extLst>
                <a:ext uri="{FF2B5EF4-FFF2-40B4-BE49-F238E27FC236}">
                  <a16:creationId xmlns="" xmlns:a16="http://schemas.microsoft.com/office/drawing/2014/main" id="{F265727C-35EA-9DFA-0973-7707DC71E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0787" y="13778067"/>
              <a:ext cx="2390002" cy="2390002"/>
            </a:xfrm>
            <a:prstGeom prst="rect">
              <a:avLst/>
            </a:prstGeom>
          </p:spPr>
        </p:pic>
        <p:pic>
          <p:nvPicPr>
            <p:cNvPr id="13" name="Imagem 12" descr="Ícone&#10;&#10;O conteúdo gerado por IA pode estar incorreto.">
              <a:extLst>
                <a:ext uri="{FF2B5EF4-FFF2-40B4-BE49-F238E27FC236}">
                  <a16:creationId xmlns="" xmlns:a16="http://schemas.microsoft.com/office/drawing/2014/main" id="{004D8512-6DEA-0B0B-63E3-A7017472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78835" y="13837379"/>
              <a:ext cx="1678276" cy="2369168"/>
            </a:xfrm>
            <a:prstGeom prst="rect">
              <a:avLst/>
            </a:prstGeom>
          </p:spPr>
        </p:pic>
        <p:pic>
          <p:nvPicPr>
            <p:cNvPr id="14" name="Imagem 13" descr="Ícone&#10;&#10;O conteúdo gerado por IA pode estar incorreto.">
              <a:extLst>
                <a:ext uri="{FF2B5EF4-FFF2-40B4-BE49-F238E27FC236}">
                  <a16:creationId xmlns="" xmlns:a16="http://schemas.microsoft.com/office/drawing/2014/main" id="{BE7B6F3C-F476-EDA2-311E-8DA8C3BBB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04135" y="16660837"/>
              <a:ext cx="2227676" cy="2227676"/>
            </a:xfrm>
            <a:prstGeom prst="rect">
              <a:avLst/>
            </a:prstGeom>
          </p:spPr>
        </p:pic>
        <p:pic>
          <p:nvPicPr>
            <p:cNvPr id="17" name="Imagem 16" descr="Logotipo&#10;&#10;O conteúdo gerado por IA pode estar incorreto.">
              <a:extLst>
                <a:ext uri="{FF2B5EF4-FFF2-40B4-BE49-F238E27FC236}">
                  <a16:creationId xmlns="" xmlns:a16="http://schemas.microsoft.com/office/drawing/2014/main" id="{BF4471B5-57EB-4844-928D-DCF9ED7AF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9490" y="16873732"/>
              <a:ext cx="1872596" cy="1872596"/>
            </a:xfrm>
            <a:prstGeom prst="rect">
              <a:avLst/>
            </a:prstGeom>
          </p:spPr>
        </p:pic>
        <p:pic>
          <p:nvPicPr>
            <p:cNvPr id="18" name="Imagem 17" descr="Ícone&#10;&#10;O conteúdo gerado por IA pode estar incorreto.">
              <a:extLst>
                <a:ext uri="{FF2B5EF4-FFF2-40B4-BE49-F238E27FC236}">
                  <a16:creationId xmlns="" xmlns:a16="http://schemas.microsoft.com/office/drawing/2014/main" id="{6D783549-32E2-3701-9536-85EC637BA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41542" y="16664034"/>
              <a:ext cx="2313068" cy="2313068"/>
            </a:xfrm>
            <a:prstGeom prst="rect">
              <a:avLst/>
            </a:prstGeom>
          </p:spPr>
        </p:pic>
        <p:pic>
          <p:nvPicPr>
            <p:cNvPr id="19" name="Imagem 18" descr="Ícone&#10;&#10;O conteúdo gerado por IA pode estar incorreto.">
              <a:extLst>
                <a:ext uri="{FF2B5EF4-FFF2-40B4-BE49-F238E27FC236}">
                  <a16:creationId xmlns="" xmlns:a16="http://schemas.microsoft.com/office/drawing/2014/main" id="{1652BFF4-CD39-4D8B-CDB6-2EEBEA3AB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11188" y="13811687"/>
              <a:ext cx="2062933" cy="2062933"/>
            </a:xfrm>
            <a:prstGeom prst="rect">
              <a:avLst/>
            </a:prstGeom>
          </p:spPr>
        </p:pic>
        <p:pic>
          <p:nvPicPr>
            <p:cNvPr id="1028" name="Picture 4" descr="Ícones, Logotipos, Símbolos de Python – Baixe gratuitamente ...">
              <a:extLst>
                <a:ext uri="{FF2B5EF4-FFF2-40B4-BE49-F238E27FC236}">
                  <a16:creationId xmlns="" xmlns:a16="http://schemas.microsoft.com/office/drawing/2014/main" id="{556FA690-9097-D87F-0B09-F4E6ACBB3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79621" y="13804015"/>
              <a:ext cx="2435896" cy="2435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logotipo de aplicativos móveis do microsoft excel 17396828 PNG">
              <a:extLst>
                <a:ext uri="{FF2B5EF4-FFF2-40B4-BE49-F238E27FC236}">
                  <a16:creationId xmlns="" xmlns:a16="http://schemas.microsoft.com/office/drawing/2014/main" id="{E1CD80C5-506E-C0CF-5F58-F7B1D1B23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1188" y="16691280"/>
              <a:ext cx="2062933" cy="2062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Google Colab Icon SVG Vector &amp; PNG Free Download | UXWing">
              <a:extLst>
                <a:ext uri="{FF2B5EF4-FFF2-40B4-BE49-F238E27FC236}">
                  <a16:creationId xmlns="" xmlns:a16="http://schemas.microsoft.com/office/drawing/2014/main" id="{92C8B8E5-0F48-005E-24B1-4322813E9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83852" y="16461311"/>
              <a:ext cx="2435896" cy="2435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Imagem 34" descr="Texto branco sobre fundo preto&#10;&#10;O conteúdo gerado por IA pode estar incorreto.">
              <a:extLst>
                <a:ext uri="{FF2B5EF4-FFF2-40B4-BE49-F238E27FC236}">
                  <a16:creationId xmlns="" xmlns:a16="http://schemas.microsoft.com/office/drawing/2014/main" id="{F318C659-C035-4A36-9B2D-BA501B9A9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52919" y="13816534"/>
              <a:ext cx="3033532" cy="2313068"/>
            </a:xfrm>
            <a:prstGeom prst="rect">
              <a:avLst/>
            </a:prstGeom>
          </p:spPr>
        </p:pic>
      </p:grpSp>
      <p:sp>
        <p:nvSpPr>
          <p:cNvPr id="36" name="TextBox 8">
            <a:extLst>
              <a:ext uri="{FF2B5EF4-FFF2-40B4-BE49-F238E27FC236}">
                <a16:creationId xmlns="" xmlns:a16="http://schemas.microsoft.com/office/drawing/2014/main" id="{BCC7CB41-3F6C-731B-1B4E-96757D30F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96" y="8393037"/>
            <a:ext cx="13284851" cy="219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66" dirty="0"/>
              <a:t>Nome/RA: Bernardo Seijas Cavalcante/24026290.</a:t>
            </a:r>
          </a:p>
          <a:p>
            <a:pPr marL="457200" indent="-4572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66" dirty="0"/>
              <a:t>Nome/RA: Eduardo Chen Zou/24025817.</a:t>
            </a:r>
          </a:p>
          <a:p>
            <a:pPr marL="457200" indent="-4572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66" dirty="0"/>
              <a:t>Nome/RA: Fabiano Henrique Chou/24025991.</a:t>
            </a:r>
          </a:p>
          <a:p>
            <a:pPr marL="457200" indent="-457200" algn="just" defTabSz="1678349" eaLnBrk="1" hangingPunct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66" dirty="0"/>
              <a:t>Nome/RA: Nicolas Morales/24025897.</a:t>
            </a:r>
          </a:p>
        </p:txBody>
      </p:sp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8ca2a57e-8138-4b57-956a-eb6e2c7049cc"/>
    <ds:schemaRef ds:uri="http://purl.org/dc/elements/1.1/"/>
    <ds:schemaRef ds:uri="http://www.w3.org/XML/1998/namespace"/>
    <ds:schemaRef ds:uri="1d2798d9-1030-4cc5-be7b-200f9e628651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880</TotalTime>
  <Words>87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Data Analytics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Nicolas Roberto Jordan Morales</cp:lastModifiedBy>
  <cp:revision>54</cp:revision>
  <dcterms:created xsi:type="dcterms:W3CDTF">2006-11-04T15:46:42Z</dcterms:created>
  <dcterms:modified xsi:type="dcterms:W3CDTF">2025-11-03T16:55:48Z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